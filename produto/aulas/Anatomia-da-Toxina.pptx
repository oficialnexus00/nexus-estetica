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pela camada, não pelo músculo. A pergunta que organiza a aula inteira é 'em que plano eu estou?' — não 'qual músculo eu quero'. Quem domina profundidade não causa difusão.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complicação estética quase nunca é dose errada, é plano errado. A dose define intensidade; o plano define quem recebe.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6 não é alvo — está na lista de propósito. Metade dos erros do terço médio e inferior é difusão até o zigomático.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Frontal — Superficial — subcutâneo. Dose: 10 – 20 U no total. Ponto de atenção: Ptose de sobrancelha e testa pesada.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Prócero — Profundo — intramuscular. Dose: 4 – 6 U. Ponto de atenção: Ponto muito inferior atinge a musculatura nasal.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Corrugador do supercílio — Profundo na cabeça, superficializa lateralmente. Dose: 4 – 6 U por lado. Ponto de atenção: É aqui que nasce a ptose palpebral: a toxina difunde pelo septo orbitário até o levantador da pálpebra superior.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Orbicular do olho — Muito superficial — subdérmico, bisel para cima. Dose: 8 – 12 U por lado. Ponto de atenção: Ponto inferior ou anterior demais difunde para o zigomático maior e derruba o lábio superior.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Nasal — Superficial. Dose: 2 – 4 U por lado. Ponto de atenção: Ponto baixo ou lateral demais atinge o levantador do lábio superior e da asa do nariz, derrubando o lábio e achatando o sorriso.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Zigomáticos maior e menor — Camada 3, trajeto oblíquo. Não é alvo: é estrutura a proteger. Ponto de atenção: A maior parte dos sorrisos assimétricos pós-toxina vem de difusão até aqui — vinda do orbicular do olho ou do masseter.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Orbicular da boca — Muito superficial, quase intradérmico. Dose: 1 – 2 U por ponto, até cerca de 4 U. Ponto de atenção: Incompetência oral: dificuldade de assobiar, beber em canudo e articular P 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Depressor do ângulo da boca — Profundo. Dose: 2 – 5 U por lado. Ponto de atenção: Ponto medial demais atinge o depressor do lábio inferior e gera assimetria evidente ao falar e sorrir.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Mentual — Profundo, junto ao periósteo. Dose: 4 – 8 U no total. Ponto de atenção: Ponto superior demais atinge o orbicular da boca e causa incompetência labial.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Masseter — Profundo — tocar o osso e recuar. Dose: 20 – 30 U por lado. Ponto de atenção: Ponto anterior ou superficial demais atinge risório e zigomáticos e gera sorriso assimétrico.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Platisma — Superficial — o platisma é subcutâneo. Dose: 2 – 3 U por ponto, 20 – 30 U no total. Ponto de atenção: Dose alta ou plano profundo no pescoço pode causar disfagia e fraqueza cervical.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 à turma quanto de Dysport equivale a 20 U de Botox na glabela. A resposta 50 U costuma surpreender — e é justamente o cálculo que ninguém faz de cabeça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 aula aqui. A pergunta de prova é sempre 'em que camada você estava'.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o disclaimer visível no encerramento. Se o material circular entre alunos, ele viaja 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207008"/>
            <a:ext cx="4572000" cy="658368"/>
          </a:xfrm>
          <a:prstGeom prst="rect">
            <a:avLst/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50024" y="1207008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70648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70648" y="1517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epiderme + derme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903720" y="1984248"/>
            <a:ext cx="4572000" cy="658368"/>
          </a:xfrm>
          <a:prstGeom prst="rect">
            <a:avLst/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50024" y="1984248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48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48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gordura superficial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03720" y="2761488"/>
            <a:ext cx="4572000" cy="658368"/>
          </a:xfrm>
          <a:prstGeom prst="rect">
            <a:avLst/>
          </a:prstGeom>
          <a:solidFill>
            <a:srgbClr val="C9524C"/>
          </a:solidFill>
          <a:ln w="17780">
            <a:solidFill>
              <a:srgbClr val="E0817A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50024" y="2761488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70648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70648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D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SMAS + músculos mímicos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03720" y="3538728"/>
            <a:ext cx="4572000" cy="658368"/>
          </a:xfrm>
          <a:prstGeom prst="rect">
            <a:avLst/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0024" y="3538728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70648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70648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espaços de deslizamento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4315968"/>
            <a:ext cx="4572000" cy="658368"/>
          </a:xfrm>
          <a:prstGeom prst="rect">
            <a:avLst/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0024" y="4315968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70648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70648" y="4626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gordura profunda + osso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963656" y="2953512"/>
            <a:ext cx="274320" cy="27432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51846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toxina para aqui — camada 3, onde vive o músculo mímico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1417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TOXINA BOTULÍNICA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178308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8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Anatomia</a:t>
            </a:r>
            <a:endParaRPr lang="en-US" sz="5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8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 Toxina</a:t>
            </a:r>
            <a:endParaRPr lang="en-US" sz="5800" dirty="0"/>
          </a:p>
        </p:txBody>
      </p:sp>
      <p:sp>
        <p:nvSpPr>
          <p:cNvPr id="26" name="Text 24"/>
          <p:cNvSpPr/>
          <p:nvPr/>
        </p:nvSpPr>
        <p:spPr>
          <a:xfrm>
            <a:off x="77724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musculatura mímica facial em camadas — onde cada músculo está, em que plano se aplica e o que a difusão cobra quando o plano erra.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7240" y="5074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estratificado da face · 11 músculos · doses em unidades de onabotulinumtoxinA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face é lida em camadas, não em regiões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anatomia estratificada organiza a face em cinco camadas constantes. Elas existem em toda a face — o que muda de região para região é a espessura de cada uma e o quanto estão aderidas entre si. Toda a segurança em toxina e preenchedor vem de saber em qual delas a agulha está.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577840" cy="621792"/>
          </a:xfrm>
          <a:prstGeom prst="roundRect">
            <a:avLst>
              <a:gd name="adj" fmla="val 8824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Toxina botulínica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 — o músculo mímico está aqui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950208"/>
            <a:ext cx="5577840" cy="621792"/>
          </a:xfrm>
          <a:prstGeom prst="roundRect">
            <a:avLst>
              <a:gd name="adj" fmla="val 8824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Preenchedor estrutural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5 — apoiado no periósteo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4700016"/>
            <a:ext cx="5577840" cy="621792"/>
          </a:xfrm>
          <a:prstGeom prst="roundRect">
            <a:avLst>
              <a:gd name="adj" fmla="val 8824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727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Preenchedor superficial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001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— compartimentos de gordura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1371600"/>
            <a:ext cx="4800600" cy="4480560"/>
          </a:xfrm>
          <a:prstGeom prst="roundRect">
            <a:avLst>
              <a:gd name="adj" fmla="val 1633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6276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ESTRATIFICADO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40880" y="2011680"/>
            <a:ext cx="4160520" cy="658368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20116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24928" y="20116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724912"/>
            <a:ext cx="4160520" cy="658368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272491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24928" y="272491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3438144"/>
            <a:ext cx="4160520" cy="658368"/>
          </a:xfrm>
          <a:prstGeom prst="rect">
            <a:avLst/>
          </a:prstGeom>
          <a:solidFill>
            <a:srgbClr val="C9524C"/>
          </a:solidFill>
          <a:ln w="9525">
            <a:solidFill>
              <a:srgbClr val="E081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3438144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24928" y="34381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40880" y="4151376"/>
            <a:ext cx="4160520" cy="658368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4151376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24928" y="41513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40880" y="4864608"/>
            <a:ext cx="4160520" cy="658368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486460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24928" y="486460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57424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3 é o alvo. As camadas 2 e 4 são por onde o produto escapa quando o volume é alto ou o plano está errado.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Os onze músculos da aula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92224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26464" y="1755648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26464" y="2075688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superior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26464" y="229514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20 U no total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43984" y="1572768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792224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0368" y="1755648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Prócero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2075688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 glabelar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30368" y="229514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 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47888" y="1572768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7344" y="1792224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34272" y="1755648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Corrugador do supercílio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34272" y="2075688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 glabelar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34272" y="229514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 U por lado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834640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3054096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26464" y="301752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Orbicular do olho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26464" y="3337560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Periorbital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26464" y="3557016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12 U por lado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43984" y="2834640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054096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0368" y="301752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0368" y="3337560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médio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30368" y="3557016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4 U por lado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47888" y="2834640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67344" y="3054096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8467344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34272" y="301752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Zigomáticos maior e menor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34272" y="3337560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a proteger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034272" y="3557016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a proteger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096512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9536" y="4315968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42" name="Text 40"/>
          <p:cNvSpPr/>
          <p:nvPr/>
        </p:nvSpPr>
        <p:spPr>
          <a:xfrm>
            <a:off x="859536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426464" y="427939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Orbicular da boca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426464" y="4599432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Perioral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426464" y="4818888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U por ponto, até cerca de 4 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43984" y="4096512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4315968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30368" y="427939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Depressor do ângulo da boca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30368" y="4599432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inferior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30368" y="4818888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5 U por lado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47888" y="4096512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67344" y="4315968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54" name="Text 52"/>
          <p:cNvSpPr/>
          <p:nvPr/>
        </p:nvSpPr>
        <p:spPr>
          <a:xfrm>
            <a:off x="8467344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034272" y="427939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Mentual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034272" y="4599432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inferior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034272" y="4818888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U no total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" y="5358384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9536" y="5577840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60" name="Text 58"/>
          <p:cNvSpPr/>
          <p:nvPr/>
        </p:nvSpPr>
        <p:spPr>
          <a:xfrm>
            <a:off x="859536" y="5577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426464" y="5541264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Masseter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426464" y="586130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inferior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426464" y="6080760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30 U por lado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443984" y="5358384"/>
            <a:ext cx="3584448" cy="1060704"/>
          </a:xfrm>
          <a:prstGeom prst="roundRect">
            <a:avLst>
              <a:gd name="adj" fmla="val 517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5577840"/>
            <a:ext cx="420624" cy="42062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66" name="Text 64"/>
          <p:cNvSpPr/>
          <p:nvPr/>
        </p:nvSpPr>
        <p:spPr>
          <a:xfrm>
            <a:off x="4663440" y="5577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230368" y="5541264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Platisma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5230368" y="586130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230368" y="6080760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U por ponto, 20 – 30 U no total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SUPERIOR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Frontal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frontalis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elevador da sobrancelha. Produz as linhas horizontais da testa.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8 pontos, em V ou linha, na altura média do ventre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20 U no total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 — subcutâneo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mínimo 2 cm acima do rebordo orbitário. Não tratar o terço inferior isoladamente.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00BFA5"/>
          </a:solidFill>
          <a:ln w="9525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Ptose de sobrancelha e testa pesada. Nunca tratar o frontal sem equilibrar o complexo glabelar: sem antagonista, o depressor vence e a sobrancelha cai. Poupar as fibras laterais gera a sobrancelha em vírgula.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 GLABELAR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Prócero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procerus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Traciona a sobrancelha medial para baixo. Gera a linha horizontal da raiz nasal.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ponto na linha média, no cruzamento das diagonais entre os cantos internos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 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Profundo — intramuscular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nasal, entre as cabeças dos corrugadores.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C9524C"/>
          </a:solidFill>
          <a:ln w="9525">
            <a:solidFill>
              <a:srgbClr val="E08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muito inferior atinge a musculatura nasal. Tratar sempre junto com os corrugadores — o complexo glabelar clássico são 20 U em 5 pontos.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 GLABELAR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Corrugador do supercílio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corrugator supercilii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 e abaixa as sobrancelhas. Responsável pelas linhas verticais da glabela.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pontos por lado — cabeça e corpo do músculo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 U por lado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Profundo na cabeça, superficializa lateralmente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contração para localizar o ventre. Injetar acima do rebordo orbitário.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C9524C"/>
          </a:solidFill>
          <a:ln w="9525">
            <a:solidFill>
              <a:srgbClr val="E08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nasce a ptose palpebral: a toxina difunde pelo septo orbitário até o levantador da pálpebra superior. Manter no mínimo 1 cm acima do rebordo, volume baixo, e não deslocar o produto para baixo.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PERIORBITAL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Orbicular do olho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orbicularis oculi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Esfíncter palpebral. A porção orbitária produz as linhas laterais — os pés de galinha.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pontos por lado, em C vertical na porção lateral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12 U por lado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superficial — subdérmico, bisel para cima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mínimo 1 cm lateral ao rebordo orbitário ósseo.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00BFA5"/>
          </a:solidFill>
          <a:ln w="9525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inferior ou anterior demais difunde para o zigomático maior e derruba o lábio superior. Na pálpebra inferior, excesso causa lagoftalmo e ectrópio. Difusão profunda pode atingir o reto lateral e causar diplopia.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MÉDIO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Nasal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nasalis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Enruga o dorso do nariz. Gera as bunny lines.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ponto por lado, na parede lateral do dorso nasal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4 U por lado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sulco nasofacial, sobre o osso nasal.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00BFA5"/>
          </a:solidFill>
          <a:ln w="9525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baixo ou lateral demais atinge o levantador do lábio superior e da asa do nariz, derrubando o lábio e achatando o sorriso.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A PROTEGER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Zigomáticos maior e menor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mm. zygomatici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Elevam a comissura labial. São o sorriso.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alvo em estética — são a estrutura que se protege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aplica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3, trajeto oblíquo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eminência zigomática à comissura oral.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C9524C"/>
          </a:solidFill>
          <a:ln w="9525">
            <a:solidFill>
              <a:srgbClr val="E08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dos sorrisos assimétricos pós-toxina vem de difusão até aqui — vinda do orbicular do olho ou do masseter. Conhecer o trajeto é o que define os limites seguros das duas regiões vizinhas.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Orbicular da boca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orbicularis oris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Esfíncter oral. Produz as rugas verticais periorais — o código de barras.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4 pontos no lábio superior, simétricos, próximos ao vermelhão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U por ponto, até cerca de 4 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superficial, quase intradérmico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o arco do cupido e a coluna filtral.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00BFA5"/>
          </a:solidFill>
          <a:ln w="9525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Incompetência oral: dificuldade de assobiar, beber em canudo e articular P e B. Dose mínima sempre. Na prática, contraindicado em músicos de sopro e profissionais da voz.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INFERIOR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Depressor do ângulo da boca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depressor anguli oris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Abaixa a comissura labial. Responsável pelo canto da boca caído.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ponto por lado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5 U por lado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borda mandibular, lateral à linha vertical da comissura. Pedir contração para isolar o ventre.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C9524C"/>
          </a:solidFill>
          <a:ln w="9525">
            <a:solidFill>
              <a:srgbClr val="E08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medial demais atinge o depressor do lábio inferior e gera assimetria evidente ao falar e sorrir. Errar aqui aparece em toda conversa da paciente.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INFERIOR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Mentual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mentalis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 e projeta o lábio inferior. Produz o queixo em casca de laranja.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ponto na linha média ou 2 simétricos, na ponta do mento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U no total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Profundo, junto ao periósteo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Porção inferior do mento, bem abaixo do sulco mentolabial.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00BFA5"/>
          </a:solidFill>
          <a:ln w="9525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superior demais atinge o orbicular da boca e causa incompetência labial. Manter-se baixo, próximo ao osso.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TERÇO INFERIOR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Masseter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masseter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Elevador da mandíbula. Alvo em bruxismo e em contorno do terço inferior.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pontos por lado, em triângulo, dentro da área segura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30 U por lado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Profundo — tocar o osso e recuar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segura: borda anterior do masseter, borda posterior do ramo, borda inferior da mandíbula e a linha do trago à comissura.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00BFA5"/>
          </a:solidFill>
          <a:ln w="9525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anterior ou superficial demais atinge risório e zigomáticos e gera sorriso assimétrico. Ponto superior demais atinge a parótida. Pode ocorrer abaulamento paradoxal por hipertrofia compensatória de feixes não tratados.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89888" y="6583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Platisma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89888" y="1152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platysma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Tensiona a pele cervical e traciona o terço inferior para baixo. Forma as bandas platismais.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pontos ao longo de cada banda, pinçando a banda entre os dedos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U por ponto, 20 – 30 U no total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5935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 — o platisma é subcutâneo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contração forçada para evidenciar as bandas antes de marcar.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700784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A AGULHA PARA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31136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31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2311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2706624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7066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73568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3182112"/>
            <a:ext cx="3657600" cy="420624"/>
          </a:xfrm>
          <a:prstGeom prst="rect">
            <a:avLst/>
          </a:prstGeom>
          <a:solidFill>
            <a:srgbClr val="C9524C"/>
          </a:solidFill>
          <a:ln w="9525">
            <a:solidFill>
              <a:srgbClr val="E08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1821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133088"/>
            <a:ext cx="3657600" cy="420624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49554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alta ou plano profundo no pescoço pode causar disfagia e fraqueza cervical. É a região onde o excesso tem a consequência mais sistêmica — dose conservadora sempre.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Unidade não é volume — é potência do produto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de marca mantendo o número da dose é o erro mais caro da especialização. As unidades medem atividade biológica e não são intercambiáveis entre produtos.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ATIVO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ONA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3816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7004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6700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onabotulinumtoxinA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0" y="26700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67004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deste material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64992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36499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Xeomin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3649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incobotulinumtoxinA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0" y="33649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: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336499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proteínas complexantes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059936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405993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abobotulinumtoxinA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0" y="405993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: 2,5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405993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relatada de 1:2 a 1:3 conforme indicação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75488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Jeuveau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475488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prabotulinumtoxinA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475488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: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38160" y="475488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apenas para glabela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449824"/>
            <a:ext cx="10881360" cy="585216"/>
          </a:xfrm>
          <a:prstGeom prst="roundRect">
            <a:avLst>
              <a:gd name="adj" fmla="val 7813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449824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Daxxify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544982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daxibotulinumtoxinA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0" y="54498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conversível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38160" y="544982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próprias — usar sempre a bula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2362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doses citadas neste material estão em unidades de onabotulinumtoxinA.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Quase todo evento adverso é difusão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Diluição, volume por ponto e distância do rebordo ósseo evitam mais complicação do que qualquer técnica sofisticada.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5266944" cy="1865376"/>
          </a:xfrm>
          <a:prstGeom prst="roundRect">
            <a:avLst>
              <a:gd name="adj" fmla="val 343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86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puncionar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633472"/>
            <a:ext cx="4663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em movimento, nunca em repouso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 a paciente sentada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assimetria prévia com foto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ptose ou dermatocálase preexistente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54496" y="2121408"/>
            <a:ext cx="5266944" cy="1865376"/>
          </a:xfrm>
          <a:prstGeom prst="roundRect">
            <a:avLst>
              <a:gd name="adj" fmla="val 343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2286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47104" y="2633472"/>
            <a:ext cx="4663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baixo por ponto — mais volume difunde mais longe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1 cm do rebordo orbitário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Bisel para cima onde o músculo é fino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plano é a segurança, não aspirar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266944" cy="1865376"/>
          </a:xfrm>
          <a:prstGeom prst="roundRect">
            <a:avLst>
              <a:gd name="adj" fmla="val 3431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3708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4718304"/>
            <a:ext cx="4663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massagear — massagem é difusão dirigida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 elevada nas primeiras 4 horas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em 14 dias, nunca antes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Retoque ajusta assimetria, não repete dose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4206240"/>
            <a:ext cx="5266944" cy="1865376"/>
          </a:xfrm>
          <a:prstGeom prst="roundRect">
            <a:avLst>
              <a:gd name="adj" fmla="val 3431"/>
            </a:avLst>
          </a:prstGeom>
          <a:solidFill>
            <a:srgbClr val="2A2015"/>
          </a:solidFill>
          <a:ln w="12700">
            <a:solidFill>
              <a:srgbClr val="E0A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43708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7104" y="4718304"/>
            <a:ext cx="4663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Ptose palpebral — difusão ao levantador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sobrancelha — frontal sem antagonista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Sorriso assimétrico — zigomático ou risório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Disfagia após platisma — dose ou plano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 que camada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8E6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você estava?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9319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define intensidade. Plano define quem recebe. Quando a resposta a essa pergunta é imediata, a complicação deixa de ser sorte.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06640" y="173736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26680" y="2103120"/>
            <a:ext cx="3383280" cy="457200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99832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10728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26680" y="2615184"/>
            <a:ext cx="3383280" cy="457200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6151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10728" y="26151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subcutâneo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26680" y="3127248"/>
            <a:ext cx="3383280" cy="457200"/>
          </a:xfrm>
          <a:prstGeom prst="rect">
            <a:avLst/>
          </a:prstGeom>
          <a:solidFill>
            <a:srgbClr val="C9524C"/>
          </a:solidFill>
          <a:ln w="9525">
            <a:solidFill>
              <a:srgbClr val="E08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31272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10728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musculoaponeurótica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26680" y="3639312"/>
            <a:ext cx="3383280" cy="457200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36393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10728" y="3639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 areolar frouxo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26680" y="4151376"/>
            <a:ext cx="3383280" cy="457200"/>
          </a:xfrm>
          <a:prstGeom prst="rect">
            <a:avLst/>
          </a:prstGeom>
          <a:solidFill>
            <a:srgbClr val="252D38"/>
          </a:solidFill>
          <a:ln w="9525">
            <a:solidFill>
              <a:srgbClr val="313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9832" y="41513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10728" y="41513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Periósteo e fáscia profunda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26680" y="47000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3 é o endereço da toxina.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5285232"/>
            <a:ext cx="10515600" cy="969264"/>
          </a:xfrm>
          <a:prstGeom prst="roundRect">
            <a:avLst>
              <a:gd name="adj" fmla="val 5660"/>
            </a:avLst>
          </a:prstGeom>
          <a:solidFill>
            <a:srgbClr val="1B212A"/>
          </a:solidFill>
          <a:ln w="9525">
            <a:solidFill>
              <a:srgbClr val="2E37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5431536"/>
            <a:ext cx="10003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 didático. Diagramas esquemáticos, com proporções simplificadas para ensino de posição relativa e vizinhança de risco — não substituem atlas anatômico, dissecção nem a bula do produto. Doses expressas como faixas de referência da literatura em unidades de onabotulinumtoxinA. A indicação, a dose e a técnica são responsabilidade do profissional habilitado que aplica.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2026-08-21T03:41:42Z</dcterms:created>
  <dcterms:modified xsi:type="dcterms:W3CDTF">2026-08-21T03:41:42Z</dcterms:modified>
</cp:coreProperties>
</file>