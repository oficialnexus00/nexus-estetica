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camada, não pelo músculo. A pergunta que organiza a aula inteira é 'em que plano eu estou?' — não 'qual músculo eu quero'. Quem domina profundidade não causa difusão.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o contrato da aula: ao final, ela não vai ter decorado onze músculos — vai ter cinco regras que geram os onze. O quarto princípio abre o bloco de camadas.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onde a aluna para de decorar tabela. Peça que ela deduza a ação do mentual só pela origem e inserção, sem consultar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mais poderoso dos cinco. Peça pra ela olhar a própria testa no espelho e dizer a direção da fibra do frontal antes de você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Daqui sai a regra mais violada da estética: tratar frontal sem tratar glabela derruba a sobrancelha. Não por dose alta — por ter tirado o único elevador.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princípio é a ponte para o próximo bloco: se a profundidade importa tanto, precisamos de um mapa de profundidades. São as cinco camadas.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o bloco assim: os quatro primeiros dizem onde o músculo está; o quinto diz até onde o produto vai. A complicação mora na diferença entre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complicação estética quase nunca é dose errada, é plano errado. A dose define intensidade; o plano define quem recebe.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6 não é alvo — está na lista de propósito. Metade dos erros do terço médio e inferior é difusão até o zigomático.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Passar músculo por músculo no mapa antes de abrir as fichas. Chamar atenção pro 6 (zigomáticos): está no mapa não como alvo, mas como vizinho que se protege.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Frontal — Superficial — subcutâneo. Dose: 10 – 20 U no total. Ponto de atenção: Ptose de sobrancelha e testa pesada.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Prócero — Profundo — intramuscular. Dose: 4 – 6 U. Ponto de atenção: Ponto muito inferior atinge a musculatura nasal.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Corrugador do supercílio — Profundo na cabeça, superficializa lateralmente. Dose: 4 – 6 U por lado. Ponto de atenção: É aqui que nasce a ptose palpebral: a toxina difunde pelo septo orbitário até o levantador da pálpebra superior.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Orbicular do olho — Muito superficial — subdérmico, bisel para cima. Dose: 8 – 12 U por lado. Ponto de atenção: Ponto inferior ou anterior demais difunde para o zigomático maior e derruba o lábio superior.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Nasal — Superficial. Dose: 2 – 4 U por lado. Ponto de atenção: Ponto baixo ou lateral demais atinge o levantador do lábio superior e da asa do nariz, derrubando o lábio e achatando o sorriso.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Zigomáticos maior e menor — Camada 3, trajeto oblíquo. Não é alvo: é estrutura a proteger. Ponto de atenção: A maior parte dos sorrisos assimétricos pós-toxina vem de difusão até aqui — vinda do orbicular do olho ou do masseter.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Orbicular da boca — Muito superficial, quase intradérmico. Dose: 1 – 2 U por ponto, até cerca de 4 U. Ponto de atenção: Incompetência oral: dificuldade de assobiar, beber em canudo e articular P e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Depressor do ângulo da boca — Profundo. Dose: 2 – 5 U por lado. Ponto de atenção: Ponto medial demais atinge o depressor do lábio inferior e gera assimetria evidente ao falar e sorrir.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Mentual — Profundo, junto ao periósteo. Dose: 4 – 8 U no total. Ponto de atenção: Ponto superior demais atinge o orbicular da boca e causa incompetência labial.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Masseter — Profundo — tocar o osso e recuar. Dose: 20 – 30 U por lado. Ponto de atenção: Ponto anterior ou superficial demais atinge risório e zigomáticos e gera sorriso assimétrico.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Platisma — Superficial — o platisma é subcutâneo. Dose: 2 – 3 U por ponto, 20 – 30 U no total. Ponto de atenção: Dose alta ou plano profundo no pescoço pode causar disfagia e fraqueza cervical.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à turma quanto de Dysport equivale a 20 U de Botox na glabela. A resposta 50 U costuma surpreender — e é justamente o cálculo que ninguém faz de cabeça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 aula aqui. A pergunta de prova é sempre 'em que camada você estava'.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o disclaimer visível no encerramento. Se o material circular entre alunos, ele viaja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120700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50024" y="120700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470648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70648" y="15179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epiderme + derme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903720" y="198424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50024" y="198424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48" y="2039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48" y="2295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gordura superficial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903720" y="2761488"/>
            <a:ext cx="4572000" cy="658368"/>
          </a:xfrm>
          <a:prstGeom prst="rect">
            <a:avLst/>
          </a:prstGeom>
          <a:solidFill>
            <a:srgbClr val="C9524C"/>
          </a:solidFill>
          <a:ln w="17780">
            <a:solidFill>
              <a:srgbClr val="E0817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50024" y="276148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70648" y="28163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70648" y="30723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SMAS + músculos mímicos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03720" y="353872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0024" y="353872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70648" y="3593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70648" y="38496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espaços de deslizamento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03720" y="431596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0024" y="431596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70648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470648" y="46268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gordura profunda + osso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963656" y="2953512"/>
            <a:ext cx="274320" cy="27432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518464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toxina para aqui — camada 3, onde vive o músculo mímico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7240" y="14173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TOXINA BOTULÍNICA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1783080"/>
            <a:ext cx="5852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8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Anatomia</a:t>
            </a:r>
            <a:endParaRPr lang="en-US" sz="5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8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 Toxina</a:t>
            </a:r>
            <a:endParaRPr lang="en-US" sz="5800" dirty="0"/>
          </a:p>
        </p:txBody>
      </p:sp>
      <p:sp>
        <p:nvSpPr>
          <p:cNvPr id="26" name="Text 24"/>
          <p:cNvSpPr/>
          <p:nvPr/>
        </p:nvSpPr>
        <p:spPr>
          <a:xfrm>
            <a:off x="777240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musculatura mímica facial em camadas — onde cada músculo está, em que plano se aplica e o que a difusão cobra quando o plano erra.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77240" y="5074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estratificado da face · 11 músculos · doses em unidades de onabotulinumtoxinA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Cinco regras que permitem deduzir qualquer músculo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fatos para decorar. São regras de raciocínio: quem domina as cinco chega sozinha num músculo que nunca estudou.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584448" cy="1572768"/>
          </a:xfrm>
          <a:prstGeom prst="roundRect">
            <a:avLst>
              <a:gd name="adj" fmla="val 407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450592"/>
            <a:ext cx="457200" cy="45720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24" y="2999232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fixa, inserção móvel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77824" y="3364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movimento vai da inserção para a origem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43984" y="2212848"/>
            <a:ext cx="3584448" cy="1572768"/>
          </a:xfrm>
          <a:prstGeom prst="roundRect">
            <a:avLst>
              <a:gd name="adj" fmla="val 407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2450592"/>
            <a:ext cx="457200" cy="45720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4681728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1728" y="2999232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ruga é perpendicular ao vetor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81728" y="3364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ruga se forma sempre a 90° da fibra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47888" y="2212848"/>
            <a:ext cx="3584448" cy="1572768"/>
          </a:xfrm>
          <a:prstGeom prst="roundRect">
            <a:avLst>
              <a:gd name="adj" fmla="val 407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85632" y="2450592"/>
            <a:ext cx="457200" cy="45720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85632" y="2999232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músculo tem antagonista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85632" y="3364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o saldo, não o músculo isolado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584448" cy="1572768"/>
          </a:xfrm>
          <a:prstGeom prst="roundRect">
            <a:avLst>
              <a:gd name="adj" fmla="val 407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4261104"/>
            <a:ext cx="457200" cy="45720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7824" y="480974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profundidade acompanha a espessura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77824" y="51755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fino, plano superficial. Espesso, profundo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43984" y="4023360"/>
            <a:ext cx="3584448" cy="1572768"/>
          </a:xfrm>
          <a:prstGeom prst="roundRect">
            <a:avLst>
              <a:gd name="adj" fmla="val 407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81728" y="4261104"/>
            <a:ext cx="457200" cy="45720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81728" y="480974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difusão não respeita anatomia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681728" y="51755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respeita distância, volume e plano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7665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Origem fixa,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inserção móvel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músculo puxa a parte móvel em direção à parte fixa. Na face, a origem é o osso e a inserção é a pele — é por isso que a face tem expressão, e não apenas movimento.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Achou de onde ele sai e onde ele chega, você deduziu a ação. Não precisa decorar que o DAO abaixa a comissura: ele sai da mandíbula e chega na comissura, então só pode puxá-la para baixo.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096512"/>
            <a:ext cx="5394960" cy="1298448"/>
          </a:xfrm>
          <a:prstGeom prst="roundRect">
            <a:avLst>
              <a:gd name="adj" fmla="val 4930"/>
            </a:avLst>
          </a:prstGeom>
          <a:solidFill>
            <a:srgbClr val="1B212A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2611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4517136"/>
            <a:ext cx="4882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pergunte o que o músculo faz. Pergunte de onde ele sai e onde ele chega — a ação é consequência.</a:t>
            </a:r>
            <a:endParaRPr lang="en-US" sz="1250" dirty="0"/>
          </a:p>
        </p:txBody>
      </p:sp>
      <p:pic>
        <p:nvPicPr>
          <p:cNvPr id="10" name="Image 0" descr="princ-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120640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02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movimento vai da inserção para a origem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7665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ruga é perpendicular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ao vetor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Fibra vertical produz ruga horizontal. Fibra horizontal produz ruga vertical. Fibra circular produz ruga radiada.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funciona nos dois sentidos: olhando a ruga da paciente, você deduz o vetor do músculo; sabendo o vetor, você prevê onde a ruga vai aparecer.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096512"/>
            <a:ext cx="5394960" cy="1298448"/>
          </a:xfrm>
          <a:prstGeom prst="roundRect">
            <a:avLst>
              <a:gd name="adj" fmla="val 4930"/>
            </a:avLst>
          </a:prstGeom>
          <a:solidFill>
            <a:srgbClr val="1B212A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2611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4517136"/>
            <a:ext cx="4882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princípio que dispensa o mapa. A face da paciente já conta onde estão as fibras — basta saber ler.</a:t>
            </a:r>
            <a:endParaRPr lang="en-US" sz="1250" dirty="0"/>
          </a:p>
        </p:txBody>
      </p:sp>
      <p:pic>
        <p:nvPicPr>
          <p:cNvPr id="10" name="Image 0" descr="princ-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120640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02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ruga se forma sempre a 90° da fibra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7665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Todo músculo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tem antagonista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é um sistema de elevadores contra depressores. Quando você enfraquece um lado da balança, o outro vence.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supercílio: frontal, o único elevador, contra corrugador, prócero e orbicular. Na comissura: zigomáticos e levantadores contra DAO e depressores.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096512"/>
            <a:ext cx="5394960" cy="1298448"/>
          </a:xfrm>
          <a:prstGeom prst="roundRect">
            <a:avLst>
              <a:gd name="adj" fmla="val 4930"/>
            </a:avLst>
          </a:prstGeom>
          <a:solidFill>
            <a:srgbClr val="1B212A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2611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4517136"/>
            <a:ext cx="4882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aplicar, pergunte: quem é o antagonista deste músculo? Porque é ele que vai aparecer depois.</a:t>
            </a:r>
            <a:endParaRPr lang="en-US" sz="1250" dirty="0"/>
          </a:p>
        </p:txBody>
      </p:sp>
      <p:pic>
        <p:nvPicPr>
          <p:cNvPr id="10" name="Image 0" descr="princ-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120640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02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o saldo, não o músculo isolado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7665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profundidade acompanha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espessura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 e orbicular do olho são lâminas finas, quase dérmicas: bisel para cima, subdérmico. Cabeça do corrugador, mentual e masseter são espessos: profundo, alguns até tocar o osso.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mesmo músculo muda de plano ao longo do trajeto — o corrugador é profundo medialmente e superficializa conforme caminha lateralmente.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096512"/>
            <a:ext cx="5394960" cy="1298448"/>
          </a:xfrm>
          <a:prstGeom prst="roundRect">
            <a:avLst>
              <a:gd name="adj" fmla="val 4930"/>
            </a:avLst>
          </a:prstGeom>
          <a:solidFill>
            <a:srgbClr val="1B212A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2611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4517136"/>
            <a:ext cx="4882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a profundidade do corrugador?" não tem resposta única. Depende de que ponto dele você está falando.</a:t>
            </a:r>
            <a:endParaRPr lang="en-US" sz="1250" dirty="0"/>
          </a:p>
        </p:txBody>
      </p:sp>
      <p:pic>
        <p:nvPicPr>
          <p:cNvPr id="10" name="Image 0" descr="princ-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120640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02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fino, plano superficial. Espesso, profundo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7665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difusão não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respeita anatomia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princípios anteriores descrevem o músculo. Este descreve o produto — e é o que transforma conhecimento em segurança.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toxina não sabe onde o músculo termina. Ela se espalha por gradiente de concentração. Então segurança vem de três coisas mensuráveis: distância do vizinho que você não quer atingir, volume baixo por ponto, e plano correto.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096512"/>
            <a:ext cx="5394960" cy="1298448"/>
          </a:xfrm>
          <a:prstGeom prst="roundRect">
            <a:avLst>
              <a:gd name="adj" fmla="val 4930"/>
            </a:avLst>
          </a:prstGeom>
          <a:solidFill>
            <a:srgbClr val="1B212A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2611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4517136"/>
            <a:ext cx="4882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não é aplicar com jeitinho. É distância, volume e plano. Por isso 1 cm do rebordo orbitário não é superstição — e massagear depois é difusão dirigida.</a:t>
            </a:r>
            <a:endParaRPr lang="en-US" sz="1250" dirty="0"/>
          </a:p>
        </p:txBody>
      </p:sp>
      <p:pic>
        <p:nvPicPr>
          <p:cNvPr id="10" name="Image 0" descr="princ-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120640" cy="3657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02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respeita distância, volume e plano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face é lida em camadas, não em regiões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anatomia estratificada organiza a face em cinco camadas constantes. Elas existem em toda a face — o que muda de região para região é a espessura de cada uma e o quanto estão aderidas entre si. Toda a segurança em toxina e preenchedor vem de saber em qual delas a agulha está.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Toxina botulínica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 — o músculo mímico está aqui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950208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Preenchedor estrutural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251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5 — apoiado no periósteo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700016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7274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Preenchedor superficial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5001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 — compartimentos de gordura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40880" y="16276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ESTRATIFICADO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040880" y="2011680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4032" y="20116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24928" y="2011680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40880" y="2724912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14032" y="27249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24928" y="2724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40880" y="3438144"/>
            <a:ext cx="4160520" cy="658368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14032" y="34381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24928" y="34381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40880" y="4151376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14032" y="41513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24928" y="4151376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040880" y="4864608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14032" y="48646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24928" y="4864608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0" y="574243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3 é o alvo. As camadas 2 e 4 são por onde o produto escapa quando o volume é alto ou o plano está errado.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Os onze músculos da aula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26464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26464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superior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26464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20 U no total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43984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30368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Prócero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30368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47888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67344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34272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Corrugador do supercílio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34272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034272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 por lado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26464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do olho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26464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Periorbital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26464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12 U por lado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43984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30368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30368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médio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30368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4 U por lado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47888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67344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8467344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34272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Zigomáticos maior e menor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034272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034272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536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42" name="Text 40"/>
          <p:cNvSpPr/>
          <p:nvPr/>
        </p:nvSpPr>
        <p:spPr>
          <a:xfrm>
            <a:off x="859536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26464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da boca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426464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Perioral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426464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2 U por ponto, até cerca de 4 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43984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63440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48" name="Text 46"/>
          <p:cNvSpPr/>
          <p:nvPr/>
        </p:nvSpPr>
        <p:spPr>
          <a:xfrm>
            <a:off x="4663440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30368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Depressor do ângulo da boca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230368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230368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5 U por lado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47888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67344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54" name="Text 52"/>
          <p:cNvSpPr/>
          <p:nvPr/>
        </p:nvSpPr>
        <p:spPr>
          <a:xfrm>
            <a:off x="8467344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034272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Mentual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34272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9034272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8 U no total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40080" y="5358384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9536" y="5577840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0" name="Text 58"/>
          <p:cNvSpPr/>
          <p:nvPr/>
        </p:nvSpPr>
        <p:spPr>
          <a:xfrm>
            <a:off x="859536" y="5577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426464" y="5541264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Masseter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426464" y="586130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426464" y="60807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U por lado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443984" y="5358384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63440" y="5577840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6" name="Text 64"/>
          <p:cNvSpPr/>
          <p:nvPr/>
        </p:nvSpPr>
        <p:spPr>
          <a:xfrm>
            <a:off x="4663440" y="5577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5230368" y="5541264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Platisma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5230368" y="586130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230368" y="60807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3 U por ponto, 20 – 30 U no total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Mapa muscular e pontos de punção</a:t>
            </a:r>
            <a:endParaRPr lang="en-US" sz="3400" dirty="0"/>
          </a:p>
        </p:txBody>
      </p:sp>
      <p:pic>
        <p:nvPicPr>
          <p:cNvPr id="4" name="Image 0" descr="mapa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088" y="1234440"/>
            <a:ext cx="3922776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70432" y="158191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167128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70432" y="21488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Prócero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734056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70432" y="27157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Corrugador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300984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70432" y="32826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do olho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70432" y="3849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443484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70432" y="441655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Zigomáticos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955280" y="160020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4" name="Text 21"/>
          <p:cNvSpPr/>
          <p:nvPr/>
        </p:nvSpPr>
        <p:spPr>
          <a:xfrm>
            <a:off x="79552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485632" y="158191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da boca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955280" y="2167128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7" name="Text 24"/>
          <p:cNvSpPr/>
          <p:nvPr/>
        </p:nvSpPr>
        <p:spPr>
          <a:xfrm>
            <a:off x="795528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85632" y="21488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955280" y="2734056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0" name="Text 27"/>
          <p:cNvSpPr/>
          <p:nvPr/>
        </p:nvSpPr>
        <p:spPr>
          <a:xfrm>
            <a:off x="79552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85632" y="27157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Mentual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955280" y="3300984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3" name="Text 30"/>
          <p:cNvSpPr/>
          <p:nvPr/>
        </p:nvSpPr>
        <p:spPr>
          <a:xfrm>
            <a:off x="79552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485632" y="32826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Masseter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7955280" y="3867912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6" name="Text 33"/>
          <p:cNvSpPr/>
          <p:nvPr/>
        </p:nvSpPr>
        <p:spPr>
          <a:xfrm>
            <a:off x="79552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485632" y="3849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Platisma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5989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anterior esquemática. Proporções simplificadas para ensino de posição relativa e vizinhança de risco — não substitui atlas anatômico.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SUPERIOR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Frontal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frontalis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elevador da sobrancelha. Produz as linhas horizontais da testa.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8 pontos, em V ou linha, na altura média do ventre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20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 — subcutâneo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2 cm acima do rebordo orbitário. Não tratar o terço inferior isoladamente.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Ptose de sobrancelha e testa pesada. Nunca tratar o frontal sem equilibrar o complexo glabelar: sem antagonista, o depressor vence e a sobrancelha cai. Poupar as fibras laterais gera a sobrancelha em vírgula.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Prócero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procerus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Traciona a sobrancelha medial para baixo. Gera a linha horizontal da raiz nasal.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na linha média, no cruzamento das diagonais entre os cantos internos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— intramuscular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nasal, entre as cabeças dos corrugadores.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muito inferior atinge a musculatura nasal. Tratar sempre junto com os corrugadores — o complexo glabelar clássico são 20 U em 5 pontos.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Corrugador do supercílio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corrugator supercilii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 e abaixa as sobrancelhas. Responsável pelas linhas verticais da glabela.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pontos por lado — cabeça e corpo do músculo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na cabeça, superficializa lateralmente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contração para localizar o ventre. Injetar acima do rebordo orbitário.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nasce a ptose palpebral: a toxina difunde pelo septo orbitário até o levantador da pálpebra superior. Manter no mínimo 1 cm acima do rebordo, volume baixo, e não deslocar o produto para baixo.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PERIORBITAL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Orbicular do olho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orbicularis oculi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Esfíncter palpebral. A porção orbitária produz as linhas laterais — os pés de galinha.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pontos por lado, em C vertical na porção lateral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12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superficial — subdérmico, bisel para cima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1 cm lateral ao rebordo orbitário ósseo.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inferior ou anterior demais difunde para o zigomático maior e derruba o lábio superior. Na pálpebra inferior, excesso causa lagoftalmo e ectrópio. Difusão profunda pode atingir o reto lateral e causar diplopia.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MÉDIO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Nasal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nasalis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Enruga o dorso do nariz. Gera as bunny lines.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por lado, na parede lateral do dorso nasal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4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sulco nasofacial, sobre o osso nasal.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baixo ou lateral demais atinge o levantador do lábio superior e da asa do nariz, derrubando o lábio e achatando o sorriso.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Zigomáticos maior e menor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mm. zygomatici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Elevam a comissura labial. São o sorriso.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alvo em estética — são a estrutura que se protege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aplica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3, trajeto oblíquo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eminência zigomática à comissura oral.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dos sorrisos assimétricos pós-toxina vem de difusão até aqui — vinda do orbicular do olho ou do masseter. Conhecer o trajeto é o que define os limites seguros das duas regiões vizinhas.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Orbicular da boca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orbicularis oris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Esfíncter oral. Produz as rugas verticais periorais — o código de barras.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 4 pontos no lábio superior, simétricos, próximos ao vermelhão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2 U por ponto, até cerca de 4 U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superficial, quase intradérmico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o arco do cupido e a coluna filtral.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Incompetência oral: dificuldade de assobiar, beber em canudo e articular P e B. Dose mínima sempre. Na prática, contraindicado em músicos de sopro e profissionais da voz.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Depressor do ângulo da boca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depressor anguli oris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Abaixa a comissura labial. Responsável pelo canto da boca caído.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por lado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5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borda mandibular, lateral à linha vertical da comissura. Pedir contração para isolar o ventre.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medial demais atinge o depressor do lábio inferior e gera assimetria evidente ao falar e sorrir. Errar aqui aparece em toda conversa da paciente.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Mentual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mentalis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 e projeta o lábio inferior. Produz o queixo em casca de laranja.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na linha média ou 2 simétricos, na ponta do mento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8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Profundo, junto ao periósteo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Porção inferior do mento, bem abaixo do sulco mentolabial.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superior demais atinge o orbicular da boca e causa incompetência labial. Manter-se baixo, próximo ao osso.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Masseter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masseter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Elevador da mandíbula. Alvo em bruxismo e em contorno do terço inferior.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pontos por lado, em triângulo, dentro da área segura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— tocar o osso e recuar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segura: borda anterior do masseter, borda posterior do ramo, borda inferior da mandíbula e a linha do trago à comissura.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anterior ou superficial demais atinge risório e zigomáticos e gera sorriso assimétrico. Ponto superior demais atinge a parótida. Pode ocorrer abaulamento paradoxal por hipertrofia compensatória de feixes não tratados.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Platisma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platysma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Tensiona a pele cervical e traciona o terço inferior para baixo. Forma as bandas platismais.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pontos ao longo de cada banda, pinçando a banda entre os dedos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3 U por ponto, 20 – 30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 — o platisma é subcutâneo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contração forçada para evidenciar as bandas antes de marcar.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alta ou plano profundo no pescoço pode causar disfagia e fraqueza cervical. É a região onde o excesso tem a consequência mais sistêmica — dose conservadora sempre.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Unidade não é volume — é potência do produto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de marca mantendo o número da dose é o erro mais caro da especialização. As unidades medem atividade biológica e não são intercambiáveis entre produtos.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0" y="2286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ATIVO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COM ONA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381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670048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670048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6700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onabotulinumtoxinA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38160" y="2670048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deste material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364992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Xeomin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336499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incobotulinumtoxinA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0" y="3364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38160" y="3364992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proteínas complexantes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059936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Dysport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0" y="405993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abobotulinumtoxinA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0" y="405993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2,5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38160" y="4059936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relatada de 1:2 a 1:3 conforme indicação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475488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Jeuveau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0" y="475488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prabotulinumtoxinA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475488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138160" y="4754880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apenas para glabela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449824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449824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Daxxify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44982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daxibotulinumtoxinA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0" y="5449824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conversível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38160" y="54498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próprias — usar sempre a bula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236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doses citadas neste material estão em unidades de onabotulinumtoxinA.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Quase todo evento adverso é difusão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Diluição, volume por ponto e distância do rebordo ósseo evitam mais complicação do que qualquer técnica sofisticada.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2860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puncionar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33472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em movimento, nunca em repouso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 a paciente sentada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assimetria prévia com foto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Checar ptose ou dermatocálase preexistente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54496" y="2121408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7104" y="22860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47104" y="2633472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baixo por ponto — mais volume difunde mais longe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1 cm do rebordo orbitário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Bisel para cima onde o músculo é fino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plano é a segurança, não aspirar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3708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32688" y="4718304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massagear — massagem é difusão dirigida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elevada nas primeiras 4 horas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em 14 dias, nunca antes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Retoque ajusta assimetria, não repete dose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4206240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43708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47104" y="4718304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Ptose palpebral — difusão ao levantador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sobrancelha — frontal sem antagonista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Sorriso assimétrico — zigomático ou risório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Disfagia após platisma — dose ou plano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Em que camada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você estava?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define intensidade. Plano define quem recebe. Quando a resposta a essa pergunta é imediata, a complicação deixa de ser sorte.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26680" y="2103120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99832" y="2103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110728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26680" y="2615184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61518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10728" y="26151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26680" y="3127248"/>
            <a:ext cx="3383280" cy="457200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272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10728" y="3127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26680" y="3639312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363931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10728" y="36393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26680" y="4151376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9832" y="415137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10728" y="41513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726680" y="4700016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3 é o endereço da toxina.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5285232"/>
            <a:ext cx="10515600" cy="969264"/>
          </a:xfrm>
          <a:prstGeom prst="roundRect">
            <a:avLst>
              <a:gd name="adj" fmla="val 566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5431536"/>
            <a:ext cx="10003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 didático. Diagramas esquemáticos, com proporções simplificadas para ensino de posição relativa e vizinhança de risco — não substituem atlas anatômico, dissecção nem a bula do produto. Doses expressas como faixas de referência da literatura em unidades de onabotulinumtoxinA. A indicação, a dose e a técnica são responsabilidade do profissional habilitado que aplica.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2026-08-21T11:36:23Z</dcterms:created>
  <dcterms:modified xsi:type="dcterms:W3CDTF">2026-08-21T11:36:23Z</dcterms:modified>
</cp:coreProperties>
</file>